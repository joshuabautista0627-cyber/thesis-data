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7306670fa340eb" /><Relationship Type="http://schemas.openxmlformats.org/officeDocument/2006/relationships/extended-properties" Target="/docProps/app.xml" Id="R8003bc1d504747c0" /><Relationship Type="http://schemas.openxmlformats.org/officeDocument/2006/relationships/officeDocument" Target="/ppt/presentation.xml" Id="R1d2fa777d49243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63cb51c1f450f"/>
  </p:sldMasterIdLst>
  <p:notesMasterIdLst>
    <p:notesMasterId xmlns:r="http://schemas.openxmlformats.org/officeDocument/2006/relationships" r:id="Re8f53f1d3e6c4948"/>
  </p:notesMasterIdLst>
  <p:sldIdLst>
    <p:sldId xmlns:r="http://schemas.openxmlformats.org/officeDocument/2006/relationships" id="256" r:id="R89accfd1abb641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edaab13b664dba" /><Relationship Type="http://schemas.openxmlformats.org/officeDocument/2006/relationships/slideMaster" Target="/ppt/slideMasters/slideMaster1.xml" Id="R84763cb51c1f450f" /><Relationship Type="http://schemas.openxmlformats.org/officeDocument/2006/relationships/notesMaster" Target="/ppt/notesMasters/notesMaster1.xml" Id="Re8f53f1d3e6c4948" /><Relationship Type="http://schemas.openxmlformats.org/officeDocument/2006/relationships/presProps" Target="/ppt/presProps.xml" Id="R24cef94090004f3c" /><Relationship Type="http://schemas.openxmlformats.org/officeDocument/2006/relationships/tableStyles" Target="/ppt/tableStyles.xml" Id="R3639bf87aad24861" /><Relationship Type="http://schemas.openxmlformats.org/officeDocument/2006/relationships/slide" Target="/ppt/slides/slide1.xml" Id="R89accfd1abb641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6356a0866e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205ff6476451b" /><Relationship Type="http://schemas.openxmlformats.org/officeDocument/2006/relationships/notesMaster" Target="/ppt/notesMasters/notesMaster1.xml" Id="Rf050a12cf94945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C:\Users\DLSU\OneDrive\Documents\SOFTWARE CALIBRATION\reports\thesis_technical_report_2026-08-18\SPARE_Calibration_Program_Full_Technical_Report_2026-08-18.md — Technical Summary, Table 2, and Sections 9.1–9.2.</a:t>
            </a:r>
          </a:p>
          <a:p xmlns:a="http://schemas.openxmlformats.org/drawingml/2006/main">
            <a:r>
              <a:t>- C:\Users\DLSU\OneDrive\Documents\SOFTWARE CALIBRATION\calibration_gui\models\live_sensor_experimental_hybrid_v4\metrics.json — post-hoc localization and force-estimation metrics.</a:t>
            </a:r>
          </a:p>
          <a:p xmlns:a="http://schemas.openxmlformats.org/drawingml/2006/main">
            <a:r>
              <a:t>- C:\Users\DLSU\OneDrive\Documents\SOFTWARE CALIBRATION\calibration_gui\models\live_sensor_experimental_hybrid_v4\release_decision.json — validation blockers and future-work framing.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ea440bf7849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afdc5f91f04d1b" /><Relationship Type="http://schemas.openxmlformats.org/officeDocument/2006/relationships/slideLayout" Target="/ppt/slideLayouts/slideLayout1.xml" Id="Rffbc64218e4343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c64218e4343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2e9bf6e8f484c" /><Relationship Type="http://schemas.openxmlformats.org/officeDocument/2006/relationships/notesSlide" Target="/ppt/notesSlides/notesSlide1.xml" Id="R636cc141792046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65BC506-6A14-4EE5-833B-833096C5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0EE360-172D-4F56-BC8C-61880438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43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</a:defRPr>
            </a:pPr>
            <a:r>
              <a:rPr sz="3525" b="1">
                <a:solidFill>
                  <a:srgbClr val="000000"/>
                </a:solidFill>
              </a:rPr>
              <a:t>Localization is promising; force estimation is future work</a:t>
            </a:r>
          </a:p>
        </p:txBody>
      </p:sp>
      <p:sp>
        <p:nvSpPr>
          <p:cNvPr id="3" name="slide-takeaway">
            <a:extLst xmlns:a="http://schemas.openxmlformats.org/drawingml/2006/main">
              <a:ext uri="{FF2B5EF4-FFF2-40B4-BE49-F238E27FC236}">
                <a16:creationId xmlns:a16="http://schemas.microsoft.com/office/drawing/2014/main" id="{0865F2AD-0439-4781-BB46-B12ED619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43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The nine-ROI optical sensor shows useful retrospective contact localization, but spatially uneven force response prevents a validated force-estimation claim.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CE4F254-5AB8-4B18-A768-63CA4545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28875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NSOR METRICS-panel">
            <a:extLst xmlns:a="http://schemas.openxmlformats.org/drawingml/2006/main">
              <a:ext uri="{FF2B5EF4-FFF2-40B4-BE49-F238E27FC236}">
                <a16:creationId xmlns:a16="http://schemas.microsoft.com/office/drawing/2014/main" id="{6F30EE77-2F8C-4762-B171-2ABBD500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81300"/>
            <a:ext cx="35814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NSOR METRICS-label">
            <a:extLst xmlns:a="http://schemas.openxmlformats.org/drawingml/2006/main">
              <a:ext uri="{FF2B5EF4-FFF2-40B4-BE49-F238E27FC236}">
                <a16:creationId xmlns:a16="http://schemas.microsoft.com/office/drawing/2014/main" id="{4FAD43EE-6C5C-4535-BAD5-B36FBAA1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SENSOR METRICS</a:t>
            </a:r>
          </a:p>
        </p:txBody>
      </p:sp>
      <p:sp>
        <p:nvSpPr>
          <p:cNvPr id="7" name="SENSOR METRICS-stat">
            <a:extLst xmlns:a="http://schemas.openxmlformats.org/drawingml/2006/main">
              <a:ext uri="{FF2B5EF4-FFF2-40B4-BE49-F238E27FC236}">
                <a16:creationId xmlns:a16="http://schemas.microsoft.com/office/drawing/2014/main" id="{4D9E24A6-E33F-4E24-8200-AEF69063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11.92%</a:t>
            </a:r>
          </a:p>
        </p:txBody>
      </p:sp>
      <p:sp>
        <p:nvSpPr>
          <p:cNvPr id="8" name="SENSOR METRICS-substat">
            <a:extLst xmlns:a="http://schemas.openxmlformats.org/drawingml/2006/main">
              <a:ext uri="{FF2B5EF4-FFF2-40B4-BE49-F238E27FC236}">
                <a16:creationId xmlns:a16="http://schemas.microsoft.com/office/drawing/2014/main" id="{E6D985D0-072C-450D-B363-DFCD6860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00000"/>
                </a:solidFill>
              </a:defRPr>
            </a:pPr>
            <a:r>
              <a:rPr sz="1613" b="1">
                <a:solidFill>
                  <a:srgbClr val="000000"/>
                </a:solidFill>
              </a:rPr>
              <a:t>median repeatability variation</a:t>
            </a:r>
          </a:p>
        </p:txBody>
      </p:sp>
      <p:sp>
        <p:nvSpPr>
          <p:cNvPr id="9" name="SENSOR METRICS-body">
            <a:extLst xmlns:a="http://schemas.openxmlformats.org/drawingml/2006/main">
              <a:ext uri="{FF2B5EF4-FFF2-40B4-BE49-F238E27FC236}">
                <a16:creationId xmlns:a16="http://schemas.microsoft.com/office/drawing/2014/main" id="{A52F7287-6B05-44AD-98C4-46EE103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242424"/>
                </a:solidFill>
              </a:defRPr>
            </a:pPr>
            <a:r>
              <a:rPr sz="1613" b="0">
                <a:solidFill>
                  <a:srgbClr val="242424"/>
                </a:solidFill>
              </a:rPr>
              <a:t>Across 393 force-bin summaries; positive low-force slopes in 4 of 9 ROIs.</a:t>
            </a:r>
          </a:p>
        </p:txBody>
      </p:sp>
      <p:sp>
        <p:nvSpPr>
          <p:cNvPr id="10" name="FORCE LOCALIZATION-panel">
            <a:extLst xmlns:a="http://schemas.openxmlformats.org/drawingml/2006/main">
              <a:ext uri="{FF2B5EF4-FFF2-40B4-BE49-F238E27FC236}">
                <a16:creationId xmlns:a16="http://schemas.microsoft.com/office/drawing/2014/main" id="{3E4A77F1-C97F-491D-AE23-7FE0F94E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35814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RCE LOCALIZATION-label">
            <a:extLst xmlns:a="http://schemas.openxmlformats.org/drawingml/2006/main">
              <a:ext uri="{FF2B5EF4-FFF2-40B4-BE49-F238E27FC236}">
                <a16:creationId xmlns:a16="http://schemas.microsoft.com/office/drawing/2014/main" id="{B064E624-8497-47EE-BC87-33FF9F41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FORCE LOCALIZATION</a:t>
            </a:r>
          </a:p>
        </p:txBody>
      </p:sp>
      <p:sp>
        <p:nvSpPr>
          <p:cNvPr id="12" name="FORCE LOCALIZATION-stat">
            <a:extLst xmlns:a="http://schemas.openxmlformats.org/drawingml/2006/main">
              <a:ext uri="{FF2B5EF4-FFF2-40B4-BE49-F238E27FC236}">
                <a16:creationId xmlns:a16="http://schemas.microsoft.com/office/drawing/2014/main" id="{3DE88EC7-782D-43DC-80D5-C296A774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93.43%</a:t>
            </a:r>
          </a:p>
        </p:txBody>
      </p:sp>
      <p:sp>
        <p:nvSpPr>
          <p:cNvPr id="13" name="FORCE LOCALIZATION-substat">
            <a:extLst xmlns:a="http://schemas.openxmlformats.org/drawingml/2006/main">
              <a:ext uri="{FF2B5EF4-FFF2-40B4-BE49-F238E27FC236}">
                <a16:creationId xmlns:a16="http://schemas.microsoft.com/office/drawing/2014/main" id="{554CF877-14AC-4D41-AC8B-6D339479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00000"/>
                </a:solidFill>
              </a:defRPr>
            </a:pPr>
            <a:r>
              <a:rPr sz="1613" b="1">
                <a:solidFill>
                  <a:srgbClr val="000000"/>
                </a:solidFill>
              </a:rPr>
              <a:t>event-level macro F1</a:t>
            </a:r>
          </a:p>
        </p:txBody>
      </p:sp>
      <p:sp>
        <p:nvSpPr>
          <p:cNvPr id="14" name="FORCE LOCALIZATION-body">
            <a:extLst xmlns:a="http://schemas.openxmlformats.org/drawingml/2006/main">
              <a:ext uri="{FF2B5EF4-FFF2-40B4-BE49-F238E27FC236}">
                <a16:creationId xmlns:a16="http://schemas.microsoft.com/office/drawing/2014/main" id="{9D67E04A-5678-4AB2-A11D-E9A8D113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242424"/>
                </a:solidFill>
              </a:defRPr>
            </a:pPr>
            <a:r>
              <a:rPr sz="1613" b="0">
                <a:solidFill>
                  <a:srgbClr val="242424"/>
                </a:solidFill>
              </a:rPr>
              <a:t>93.41% accuracy across 102 events / 54 sessions; post-hoc grouped folds.</a:t>
            </a:r>
          </a:p>
        </p:txBody>
      </p:sp>
      <p:sp>
        <p:nvSpPr>
          <p:cNvPr id="15" name="LIMITATION / FUTURE WORK-panel">
            <a:extLst xmlns:a="http://schemas.openxmlformats.org/drawingml/2006/main">
              <a:ext uri="{FF2B5EF4-FFF2-40B4-BE49-F238E27FC236}">
                <a16:creationId xmlns:a16="http://schemas.microsoft.com/office/drawing/2014/main" id="{D45DC18D-7F20-4E5A-9BA4-82A039FF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5814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IMITATION / FUTURE WORK-label">
            <a:extLst xmlns:a="http://schemas.openxmlformats.org/drawingml/2006/main">
              <a:ext uri="{FF2B5EF4-FFF2-40B4-BE49-F238E27FC236}">
                <a16:creationId xmlns:a16="http://schemas.microsoft.com/office/drawing/2014/main" id="{ED22EA93-23EA-4E13-8607-AC41B63E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C2"/>
                </a:solidFill>
              </a:defRPr>
            </a:pPr>
            <a:r>
              <a:rPr sz="1275" b="1">
                <a:solidFill>
                  <a:srgbClr val="1769C2"/>
                </a:solidFill>
              </a:rPr>
              <a:t>LIMITATION / FUTURE WORK</a:t>
            </a:r>
          </a:p>
        </p:txBody>
      </p:sp>
      <p:sp>
        <p:nvSpPr>
          <p:cNvPr id="17" name="LIMITATION / FUTURE WORK-stat">
            <a:extLst xmlns:a="http://schemas.openxmlformats.org/drawingml/2006/main">
              <a:ext uri="{FF2B5EF4-FFF2-40B4-BE49-F238E27FC236}">
                <a16:creationId xmlns:a16="http://schemas.microsoft.com/office/drawing/2014/main" id="{A3B9DCA1-B13A-4650-99CE-9C50E468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81375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0.328 N</a:t>
            </a:r>
          </a:p>
        </p:txBody>
      </p:sp>
      <p:sp>
        <p:nvSpPr>
          <p:cNvPr id="18" name="LIMITATION / FUTURE WORK-substat">
            <a:extLst xmlns:a="http://schemas.openxmlformats.org/drawingml/2006/main">
              <a:ext uri="{FF2B5EF4-FFF2-40B4-BE49-F238E27FC236}">
                <a16:creationId xmlns:a16="http://schemas.microsoft.com/office/drawing/2014/main" id="{9F99C1E2-475F-47D6-9F09-227B1598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00000"/>
                </a:solidFill>
              </a:defRPr>
            </a:pPr>
            <a:r>
              <a:rPr sz="1613" b="1">
                <a:solidFill>
                  <a:srgbClr val="000000"/>
                </a:solidFill>
              </a:rPr>
              <a:t>conditional estimation MAE</a:t>
            </a:r>
          </a:p>
        </p:txBody>
      </p:sp>
      <p:sp>
        <p:nvSpPr>
          <p:cNvPr id="19" name="LIMITATION / FUTURE WORK-body">
            <a:extLst xmlns:a="http://schemas.openxmlformats.org/drawingml/2006/main">
              <a:ext uri="{FF2B5EF4-FFF2-40B4-BE49-F238E27FC236}">
                <a16:creationId xmlns:a16="http://schemas.microsoft.com/office/drawing/2014/main" id="{AA8D09B9-0035-4F9F-8E42-B45FEA7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95800"/>
            <a:ext cx="3009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242424"/>
                </a:solidFill>
              </a:defRPr>
            </a:pPr>
            <a:r>
              <a:rPr sz="1613" b="0">
                <a:solidFill>
                  <a:srgbClr val="242424"/>
                </a:solidFill>
              </a:rPr>
              <a:t>p95 error 0.643 N; weak tracking (ρ = 0.207). Present only in Limitations &amp; Future Directions.</a:t>
            </a:r>
          </a:p>
        </p:txBody>
      </p:sp>
      <p:sp>
        <p:nvSpPr>
          <p:cNvPr id="2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379F02C-DE07-42E5-BAC5-BFC2612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531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36B"/>
                </a:solidFill>
              </a:defRPr>
            </a:pPr>
            <a:r>
              <a:rPr sz="938" b="0">
                <a:solidFill>
                  <a:srgbClr val="5E636B"/>
                </a:solidFill>
              </a:rPr>
              <a:t>Source: Thesis technical report (18 Aug 2026), Table 2 and §§9.1–9.2; experimental hybrid v4 metrics and release decision.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D50BC6-9AA5-43A7-BD3B-E0F65415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53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36B"/>
                </a:solidFill>
              </a:defRPr>
            </a:pPr>
            <a:r>
              <a:rPr sz="975" b="0">
                <a:solidFill>
                  <a:srgbClr val="5E636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9078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2026-08-18T08:26:45.5980000Z</dcterms:created>
  <dcterms:modified xsi:type="dcterms:W3CDTF">2026-08-18T08:26:45.5980000Z</dcterms:modified>
</coreProperties>
</file>